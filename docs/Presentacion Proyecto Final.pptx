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70" r:id="rId12"/>
    <p:sldId id="271" r:id="rId13"/>
    <p:sldId id="265" r:id="rId14"/>
  </p:sldIdLst>
  <p:sldSz cx="9144000" cy="5143500" type="screen16x9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3" name="Google Shape;10;p2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" name="Google Shape;11;p2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5" name="Google Shape;12;p2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" name="Google Shape;13;p2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14;p2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28600" y="1854000"/>
            <a:ext cx="5257440" cy="240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341040" y="1006920"/>
            <a:ext cx="2573640" cy="390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32;p14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1" name="Google Shape;133;p14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" name="Google Shape;134;p14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13" name="Google Shape;135;p14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136;p14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137;p14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863280"/>
            <a:ext cx="5562360" cy="156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41;p15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19" name="Google Shape;142;p15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0" name="Google Shape;143;p15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21" name="Google Shape;144;p15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145;p15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146;p15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3920" y="3359160"/>
            <a:ext cx="6265440" cy="65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28600" y="632880"/>
            <a:ext cx="7299360" cy="264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19;p3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27" name="Google Shape;20;p3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8" name="Google Shape;21;p3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29" name="Google Shape;22;p3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23;p3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24;p3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952080" y="2882880"/>
            <a:ext cx="4962960" cy="2031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7647120" y="1546200"/>
            <a:ext cx="1267920" cy="11077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IBM Plex Mono SemiBold"/>
                <a:ea typeface="IBM Plex Mono SemiBol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228600" y="1006920"/>
            <a:ext cx="2573640" cy="390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213;p21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36" name="Google Shape;214;p21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7" name="Google Shape;215;p21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38" name="Google Shape;216;p21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" name="Google Shape;217;p21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" name="Google Shape;218;p21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8600" y="2513880"/>
            <a:ext cx="3550320" cy="240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Google Shape;221;p21"/>
          <p:cNvSpPr/>
          <p:nvPr/>
        </p:nvSpPr>
        <p:spPr>
          <a:xfrm>
            <a:off x="4400280" y="3978360"/>
            <a:ext cx="444780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51;p6"/>
          <p:cNvGrpSpPr/>
          <p:nvPr/>
        </p:nvGrpSpPr>
        <p:grpSpPr>
          <a:xfrm>
            <a:off x="0" y="0"/>
            <a:ext cx="9143640" cy="228240"/>
            <a:chOff x="0" y="0"/>
            <a:chExt cx="9143640" cy="228240"/>
          </a:xfrm>
        </p:grpSpPr>
        <p:sp>
          <p:nvSpPr>
            <p:cNvPr id="44" name="Google Shape;52;p6"/>
            <p:cNvSpPr/>
            <p:nvPr/>
          </p:nvSpPr>
          <p:spPr>
            <a:xfrm>
              <a:off x="0" y="0"/>
              <a:ext cx="9143640" cy="22824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5" name="Google Shape;53;p6"/>
            <p:cNvGrpSpPr/>
            <p:nvPr/>
          </p:nvGrpSpPr>
          <p:grpSpPr>
            <a:xfrm>
              <a:off x="228600" y="75240"/>
              <a:ext cx="339120" cy="77760"/>
              <a:chOff x="228600" y="75240"/>
              <a:chExt cx="339120" cy="77760"/>
            </a:xfrm>
          </p:grpSpPr>
          <p:sp>
            <p:nvSpPr>
              <p:cNvPr id="46" name="Google Shape;54;p6"/>
              <p:cNvSpPr/>
              <p:nvPr/>
            </p:nvSpPr>
            <p:spPr>
              <a:xfrm>
                <a:off x="22860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55;p6"/>
              <p:cNvSpPr/>
              <p:nvPr/>
            </p:nvSpPr>
            <p:spPr>
              <a:xfrm>
                <a:off x="35928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56;p6"/>
              <p:cNvSpPr/>
              <p:nvPr/>
            </p:nvSpPr>
            <p:spPr>
              <a:xfrm>
                <a:off x="489960" y="75240"/>
                <a:ext cx="77760" cy="77760"/>
              </a:xfrm>
              <a:prstGeom prst="ellipse">
                <a:avLst/>
              </a:pr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2400" tIns="27720" rIns="32400" bIns="277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253;p28"/>
          <p:cNvCxnSpPr/>
          <p:nvPr/>
        </p:nvCxnSpPr>
        <p:spPr>
          <a:xfrm>
            <a:off x="0" y="838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grpSp>
        <p:nvGrpSpPr>
          <p:cNvPr id="52" name="Google Shape;255;p28"/>
          <p:cNvGrpSpPr/>
          <p:nvPr/>
        </p:nvGrpSpPr>
        <p:grpSpPr>
          <a:xfrm>
            <a:off x="228600" y="281520"/>
            <a:ext cx="8686440" cy="466920"/>
            <a:chOff x="228600" y="281520"/>
            <a:chExt cx="8686440" cy="466920"/>
          </a:xfrm>
        </p:grpSpPr>
        <p:sp>
          <p:nvSpPr>
            <p:cNvPr id="53" name="Google Shape;256;p28"/>
            <p:cNvSpPr/>
            <p:nvPr/>
          </p:nvSpPr>
          <p:spPr>
            <a:xfrm>
              <a:off x="4071960" y="281520"/>
              <a:ext cx="1961696" cy="46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000" b="1" dirty="0">
                  <a:solidFill>
                    <a:schemeClr val="dk1"/>
                  </a:solidFill>
                  <a:latin typeface="Space Grotesk"/>
                </a:rPr>
                <a:t>Tecnologias Emergentes I</a:t>
              </a:r>
              <a:endParaRPr lang="en-US" sz="10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257;p28"/>
            <p:cNvSpPr/>
            <p:nvPr/>
          </p:nvSpPr>
          <p:spPr>
            <a:xfrm>
              <a:off x="7863480" y="281520"/>
              <a:ext cx="1051560" cy="12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800" b="1" dirty="0">
                  <a:solidFill>
                    <a:schemeClr val="dk1"/>
                  </a:solidFill>
                  <a:latin typeface="Space Grotesk"/>
                  <a:ea typeface="Space Grotesk"/>
                </a:rPr>
                <a:t>15</a:t>
              </a:r>
              <a:r>
                <a:rPr lang="en" sz="800" b="1" u="none" strike="noStrike" dirty="0">
                  <a:solidFill>
                    <a:schemeClr val="dk1"/>
                  </a:solidFill>
                  <a:effectLst/>
                  <a:uFillTx/>
                  <a:latin typeface="Space Grotesk"/>
                  <a:ea typeface="Space Grotesk"/>
                </a:rPr>
                <a:t>/06/2026</a:t>
              </a:r>
              <a:endParaRPr lang="en-US" sz="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258;p28"/>
            <p:cNvSpPr/>
            <p:nvPr/>
          </p:nvSpPr>
          <p:spPr>
            <a:xfrm>
              <a:off x="228600" y="281520"/>
              <a:ext cx="2881746" cy="46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r>
                <a:rPr lang="es-BO" sz="1000" dirty="0">
                  <a:latin typeface="Space Grotesk"/>
                </a:rPr>
                <a:t>Marco Michel Salas Justiniano</a:t>
              </a:r>
            </a:p>
            <a:p>
              <a:r>
                <a:rPr lang="es-BO" sz="1000" dirty="0">
                  <a:latin typeface="Space Grotesk"/>
                </a:rPr>
                <a:t>Manuel Augusto Ovando Crespo</a:t>
              </a:r>
            </a:p>
          </p:txBody>
        </p:sp>
      </p:grpSp>
      <p:pic>
        <p:nvPicPr>
          <p:cNvPr id="56" name="image_0:slide_img_CGjiek.jpg"/>
          <p:cNvPicPr/>
          <p:nvPr/>
        </p:nvPicPr>
        <p:blipFill>
          <a:blip r:embed="rId2"/>
          <a:stretch/>
        </p:blipFill>
        <p:spPr>
          <a:xfrm>
            <a:off x="6343560" y="1009800"/>
            <a:ext cx="2571480" cy="390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Rectangle 56"/>
          <p:cNvSpPr/>
          <p:nvPr/>
        </p:nvSpPr>
        <p:spPr>
          <a:xfrm>
            <a:off x="228600" y="4486320"/>
            <a:ext cx="3790440" cy="106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A0E14"/>
                </a:solidFill>
                <a:effectLst/>
                <a:uFillTx/>
                <a:latin typeface="Roboto"/>
              </a:rPr>
              <a:t>Modelo de riesgo basado en redes neuronales y variables demográficas y clínicas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8599" y="1124018"/>
            <a:ext cx="5458692" cy="26509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r>
              <a:rPr lang="es-BO" sz="3600" b="1" cap="all" dirty="0">
                <a:latin typeface="Space Grotesk"/>
              </a:rPr>
              <a:t>Predicción de riesgo de accidentes cerebro vascular mediante redes neuronales</a:t>
            </a:r>
            <a:endParaRPr lang="es-BO" sz="3600" dirty="0">
              <a:latin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Google Shape;339;p31"/>
          <p:cNvCxnSpPr/>
          <p:nvPr/>
        </p:nvCxnSpPr>
        <p:spPr>
          <a:xfrm>
            <a:off x="0" y="3635967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60" name="image_0:slide_img_EDpgfk.jpg"/>
          <p:cNvPicPr/>
          <p:nvPr/>
        </p:nvPicPr>
        <p:blipFill>
          <a:blip r:embed="rId2"/>
          <a:stretch/>
        </p:blipFill>
        <p:spPr>
          <a:xfrm>
            <a:off x="228600" y="628560"/>
            <a:ext cx="7295760" cy="26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Rectangle 60"/>
          <p:cNvSpPr/>
          <p:nvPr/>
        </p:nvSpPr>
        <p:spPr>
          <a:xfrm>
            <a:off x="219240" y="3362400"/>
            <a:ext cx="86958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Space Grotesk"/>
              </a:rPr>
              <a:t>Introducción</a:t>
            </a: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19239" y="3927273"/>
            <a:ext cx="8800069" cy="12162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r>
              <a:rPr lang="es-BO" sz="1200" b="1" dirty="0"/>
              <a:t>Problema</a:t>
            </a:r>
          </a:p>
          <a:p>
            <a:r>
              <a:rPr lang="es-BO" sz="1200" dirty="0"/>
              <a:t>El accidente cerebrovascular (Stroke) es una de las principales causas de muerte y discapacidad a nivel mundial. La detección temprana de pacientes con riesgo puede contribuir a mejorar la prevención y el tratamiento oportuno.</a:t>
            </a:r>
          </a:p>
          <a:p>
            <a:r>
              <a:rPr lang="es-BO" sz="1200" b="1" dirty="0"/>
              <a:t>Objetivo General</a:t>
            </a:r>
          </a:p>
          <a:p>
            <a:r>
              <a:rPr lang="es-BO" sz="1200" dirty="0"/>
              <a:t>Desarrollar un modelo de aprendizaje automático capaz de predecir el riesgo de accidente cerebrovascular utilizando variables demográficas y clínicas.</a:t>
            </a:r>
          </a:p>
          <a:p>
            <a:pPr algn="r"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348;p32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pic>
        <p:nvPicPr>
          <p:cNvPr id="68" name="image_0:slide_img_IKPMgk.jpg"/>
          <p:cNvPicPr/>
          <p:nvPr/>
        </p:nvPicPr>
        <p:blipFill>
          <a:blip r:embed="rId2"/>
          <a:stretch/>
        </p:blipFill>
        <p:spPr>
          <a:xfrm>
            <a:off x="228960" y="1009800"/>
            <a:ext cx="2571480" cy="390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Rectangle 68"/>
          <p:cNvSpPr/>
          <p:nvPr/>
        </p:nvSpPr>
        <p:spPr>
          <a:xfrm>
            <a:off x="3121527" y="911847"/>
            <a:ext cx="1512818" cy="3686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19999"/>
          </a:bodyPr>
          <a:lstStyle/>
          <a:p>
            <a:pPr algn="r">
              <a:tabLst>
                <a:tab pos="0" algn="l"/>
              </a:tabLst>
            </a:pPr>
            <a:r>
              <a:rPr lang="es-BO" sz="2400" dirty="0"/>
              <a:t>DATASET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648560" y="1542960"/>
            <a:ext cx="1266480" cy="76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85000" lnSpcReduction="19999"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0A0E14"/>
                </a:solidFill>
                <a:effectLst/>
                <a:uFillTx/>
                <a:latin typeface="IBM Plex Mono SemiBold"/>
              </a:rPr>
              <a:t>01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73E408DD-BA9A-A7BB-7D98-91205E18A1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222050"/>
              </p:ext>
            </p:extLst>
          </p:nvPr>
        </p:nvGraphicFramePr>
        <p:xfrm>
          <a:off x="3119438" y="1331913"/>
          <a:ext cx="5380037" cy="345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400403" imgH="3468725" progId="Word.Document.12">
                  <p:embed/>
                </p:oleObj>
              </mc:Choice>
              <mc:Fallback>
                <p:oleObj name="Document" r:id="rId3" imgW="5400403" imgH="34687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9438" y="1331913"/>
                        <a:ext cx="5380037" cy="345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>
              <a:tabLst>
                <a:tab pos="0" algn="l"/>
              </a:tabLst>
            </a:pPr>
            <a:r>
              <a:rPr lang="es-BO" sz="2400" dirty="0"/>
              <a:t>Healthcare Stroke Dataset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71ADD0-E6E0-ABF7-0FFB-A28283BCB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11294"/>
              </p:ext>
            </p:extLst>
          </p:nvPr>
        </p:nvGraphicFramePr>
        <p:xfrm>
          <a:off x="476280" y="969938"/>
          <a:ext cx="7886700" cy="18288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62711694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0831914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Característica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21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Registros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5110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353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Fuente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Kaggle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484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Tipo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dirty="0"/>
                        <a:t>Clasificación Binaria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88764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64C6B86-026D-3F7E-48D8-EB1EDA8A8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2930956"/>
            <a:ext cx="8559692" cy="1566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339;p31"/>
          <p:cNvCxnSpPr/>
          <p:nvPr/>
        </p:nvCxnSpPr>
        <p:spPr>
          <a:xfrm>
            <a:off x="380557" y="689562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75" name="Rectangle 74"/>
          <p:cNvSpPr/>
          <p:nvPr/>
        </p:nvSpPr>
        <p:spPr>
          <a:xfrm>
            <a:off x="380557" y="356562"/>
            <a:ext cx="869580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>
              <a:tabLst>
                <a:tab pos="0" algn="l"/>
              </a:tabLst>
            </a:pPr>
            <a:r>
              <a:rPr lang="es-BO" sz="2800" dirty="0"/>
              <a:t>PREPROCESAMIENTO</a:t>
            </a:r>
            <a:endParaRPr lang="en-US" sz="2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6BAB45-7445-C357-0731-087EA4F54B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446527"/>
              </p:ext>
            </p:extLst>
          </p:nvPr>
        </p:nvGraphicFramePr>
        <p:xfrm>
          <a:off x="380557" y="825081"/>
          <a:ext cx="8061694" cy="3108960"/>
        </p:xfrm>
        <a:graphic>
          <a:graphicData uri="http://schemas.openxmlformats.org/drawingml/2006/table">
            <a:tbl>
              <a:tblPr/>
              <a:tblGrid>
                <a:gridCol w="4030847">
                  <a:extLst>
                    <a:ext uri="{9D8B030D-6E8A-4147-A177-3AD203B41FA5}">
                      <a16:colId xmlns:a16="http://schemas.microsoft.com/office/drawing/2014/main" val="4251652122"/>
                    </a:ext>
                  </a:extLst>
                </a:gridCol>
                <a:gridCol w="4030847">
                  <a:extLst>
                    <a:ext uri="{9D8B030D-6E8A-4147-A177-3AD203B41FA5}">
                      <a16:colId xmlns:a16="http://schemas.microsoft.com/office/drawing/2014/main" val="1011849088"/>
                    </a:ext>
                  </a:extLst>
                </a:gridCol>
              </a:tblGrid>
              <a:tr h="2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dirty="0"/>
                        <a:t>Paso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Objetivo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336847"/>
                  </a:ext>
                </a:extLst>
              </a:tr>
              <a:tr h="432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Filtrado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Eliminar variables sin valor predictivo (ID)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737284"/>
                  </a:ext>
                </a:extLst>
              </a:tr>
              <a:tr h="2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dirty="0"/>
                        <a:t>Imputación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Completar valores faltantes en BMI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043664"/>
                  </a:ext>
                </a:extLst>
              </a:tr>
              <a:tr h="432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dirty="0"/>
                        <a:t>Convertir variables categóricas a numéricas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380137"/>
                  </a:ext>
                </a:extLst>
              </a:tr>
              <a:tr h="2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Train/Test Split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Separar entrenamiento y prueba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207625"/>
                  </a:ext>
                </a:extLst>
              </a:tr>
              <a:tr h="2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Scaling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/>
                        <a:t>Estandarizar variables numéricas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657200"/>
                  </a:ext>
                </a:extLst>
              </a:tr>
              <a:tr h="247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dirty="0"/>
                        <a:t>SMOTE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BO" dirty="0"/>
                        <a:t>Balancear la clase Stroke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099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360;p33"/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82" name="Rectangle 81"/>
          <p:cNvSpPr/>
          <p:nvPr/>
        </p:nvSpPr>
        <p:spPr>
          <a:xfrm>
            <a:off x="159328" y="486725"/>
            <a:ext cx="1219200" cy="6267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FFFFFF"/>
                </a:solidFill>
                <a:effectLst/>
                <a:uFillTx/>
                <a:latin typeface="Space Grotesk"/>
              </a:rPr>
              <a:t>EDA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0" y="1142657"/>
            <a:ext cx="1593273" cy="3179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s-BO" sz="1200" dirty="0"/>
              <a:t>Distribución Stroke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5744D-E054-AC74-3B98-26802BF35A2C}"/>
              </a:ext>
            </a:extLst>
          </p:cNvPr>
          <p:cNvSpPr/>
          <p:nvPr/>
        </p:nvSpPr>
        <p:spPr>
          <a:xfrm>
            <a:off x="7100454" y="1142657"/>
            <a:ext cx="1517073" cy="3179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algn="r">
              <a:lnSpc>
                <a:spcPct val="150000"/>
              </a:lnSpc>
              <a:tabLst>
                <a:tab pos="0" algn="l"/>
              </a:tabLst>
            </a:pPr>
            <a:r>
              <a:rPr lang="es-BO" sz="1200" dirty="0"/>
              <a:t>Histograma Edad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32957-E65D-AAAF-4D04-40C308569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91" y="1512786"/>
            <a:ext cx="3808217" cy="3173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B0A6E7-5BE0-26F9-BB93-7B850325C9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612" y="1512786"/>
            <a:ext cx="4398516" cy="27490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40113-3D4F-451A-0F51-12A171DCF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360;p33">
            <a:extLst>
              <a:ext uri="{FF2B5EF4-FFF2-40B4-BE49-F238E27FC236}">
                <a16:creationId xmlns:a16="http://schemas.microsoft.com/office/drawing/2014/main" id="{CA235C71-FC13-09E9-B96A-C5FABD3A8668}"/>
              </a:ext>
            </a:extLst>
          </p:cNvPr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95FAD4FF-ED8D-78D0-F4CB-DE6A11F83E64}"/>
              </a:ext>
            </a:extLst>
          </p:cNvPr>
          <p:cNvSpPr/>
          <p:nvPr/>
        </p:nvSpPr>
        <p:spPr>
          <a:xfrm>
            <a:off x="159328" y="486725"/>
            <a:ext cx="2964872" cy="542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55000" lnSpcReduction="20000"/>
          </a:bodyPr>
          <a:lstStyle/>
          <a:p>
            <a:pPr>
              <a:tabLst>
                <a:tab pos="0" algn="l"/>
              </a:tabLst>
            </a:pPr>
            <a:r>
              <a:rPr lang="es-BO" sz="3200" b="1" dirty="0"/>
              <a:t>FUNDAMENTO TEÓRICO</a:t>
            </a:r>
            <a:endParaRPr lang="en-US" sz="32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BE7CBE7B-AB02-72CE-D8FC-AE551719C967}"/>
                  </a:ext>
                </a:extLst>
              </p:cNvPr>
              <p:cNvSpPr/>
              <p:nvPr/>
            </p:nvSpPr>
            <p:spPr>
              <a:xfrm>
                <a:off x="2500745" y="1142657"/>
                <a:ext cx="3893127" cy="116376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rmAutofit fontScale="92500" lnSpcReduction="9999"/>
              </a:bodyPr>
              <a:lstStyle/>
              <a:p>
                <a:r>
                  <a:rPr lang="es-BO" sz="1200" b="1" dirty="0"/>
                  <a:t>Neurona Artificial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i="1"/>
                        <m:t>𝑧</m:t>
                      </m:r>
                      <m:r>
                        <a:rPr lang="es-BO"/>
                        <m:t>=</m:t>
                      </m:r>
                      <m:nary>
                        <m:naryPr>
                          <m:chr m:val="∑"/>
                          <m:limLoc m:val="subSup"/>
                          <m:grow m:val="on"/>
                          <m:ctrlPr>
                            <a:rPr lang="es-BO" i="1"/>
                          </m:ctrlPr>
                        </m:naryPr>
                        <m:sub>
                          <m:r>
                            <a:rPr lang="es-BO" i="1"/>
                            <m:t>𝑖</m:t>
                          </m:r>
                          <m:r>
                            <a:rPr lang="es-BO"/>
                            <m:t>=1</m:t>
                          </m:r>
                        </m:sub>
                        <m:sup>
                          <m:r>
                            <a:rPr lang="es-BO" i="1"/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BO" i="1"/>
                              </m:ctrlPr>
                            </m:sSubPr>
                            <m:e>
                              <m:r>
                                <a:rPr lang="es-BO" i="1"/>
                                <m:t>𝑤</m:t>
                              </m:r>
                            </m:e>
                            <m:sub>
                              <m:r>
                                <a:rPr lang="es-BO" i="1"/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s-BO" i="1"/>
                          </m:ctrlPr>
                        </m:sSubPr>
                        <m:e>
                          <m:r>
                            <a:rPr lang="es-BO" i="1"/>
                            <m:t>𝑥</m:t>
                          </m:r>
                        </m:e>
                        <m:sub>
                          <m:r>
                            <a:rPr lang="es-BO" i="1"/>
                            <m:t>𝑖</m:t>
                          </m:r>
                        </m:sub>
                      </m:sSub>
                      <m:r>
                        <a:rPr lang="es-BO"/>
                        <m:t>+</m:t>
                      </m:r>
                      <m:r>
                        <a:rPr lang="es-BO" i="1"/>
                        <m:t>𝑏</m:t>
                      </m:r>
                    </m:oMath>
                  </m:oMathPara>
                </a14:m>
                <a:endParaRPr lang="es-BO" sz="1200" dirty="0"/>
              </a:p>
              <a:p>
                <a:r>
                  <a:rPr lang="es-BO" sz="1200" b="1" dirty="0"/>
                  <a:t>Explicación</a:t>
                </a:r>
              </a:p>
              <a:p>
                <a:r>
                  <a:rPr lang="es-BO" sz="1200" dirty="0"/>
                  <a:t>Combina las entradas mediante pesos y sesgo.</a:t>
                </a:r>
              </a:p>
            </p:txBody>
          </p:sp>
        </mc:Choice>
        <mc:Fallback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BE7CBE7B-AB02-72CE-D8FC-AE551719C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745" y="1142657"/>
                <a:ext cx="3893127" cy="1163764"/>
              </a:xfrm>
              <a:prstGeom prst="rect">
                <a:avLst/>
              </a:prstGeom>
              <a:blipFill>
                <a:blip r:embed="rId2"/>
                <a:stretch>
                  <a:fillRect t="-1571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598F6B-633F-E3F7-41D6-47EED73C3447}"/>
                  </a:ext>
                </a:extLst>
              </p:cNvPr>
              <p:cNvSpPr/>
              <p:nvPr/>
            </p:nvSpPr>
            <p:spPr>
              <a:xfrm>
                <a:off x="2500745" y="2571750"/>
                <a:ext cx="3830783" cy="1163764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rmAutofit/>
              </a:bodyPr>
              <a:lstStyle/>
              <a:p>
                <a:r>
                  <a:rPr lang="es-BO" sz="1200" b="1" dirty="0"/>
                  <a:t>Sigmoide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i="1"/>
                        <m:t>𝜎</m:t>
                      </m:r>
                      <m:d>
                        <m:dPr>
                          <m:ctrlPr>
                            <a:rPr lang="es-BO" i="1"/>
                          </m:ctrlPr>
                        </m:dPr>
                        <m:e>
                          <m:r>
                            <a:rPr lang="es-BO" i="1"/>
                            <m:t>𝑧</m:t>
                          </m:r>
                        </m:e>
                      </m:d>
                      <m:r>
                        <a:rPr lang="es-BO"/>
                        <m:t>=</m:t>
                      </m:r>
                      <m:f>
                        <m:fPr>
                          <m:ctrlPr>
                            <a:rPr lang="es-BO" i="1"/>
                          </m:ctrlPr>
                        </m:fPr>
                        <m:num>
                          <m:r>
                            <a:rPr lang="es-BO"/>
                            <m:t>1</m:t>
                          </m:r>
                        </m:num>
                        <m:den>
                          <m:r>
                            <a:rPr lang="es-BO"/>
                            <m:t>1+</m:t>
                          </m:r>
                          <m:sSup>
                            <m:sSupPr>
                              <m:ctrlPr>
                                <a:rPr lang="es-BO" i="1"/>
                              </m:ctrlPr>
                            </m:sSupPr>
                            <m:e>
                              <m:r>
                                <a:rPr lang="es-BO" i="1"/>
                                <m:t>𝑒</m:t>
                              </m:r>
                            </m:e>
                            <m:sup>
                              <m:r>
                                <a:rPr lang="es-BO"/>
                                <m:t>−</m:t>
                              </m:r>
                              <m:r>
                                <a:rPr lang="es-BO" i="1"/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BO" sz="1200" dirty="0"/>
              </a:p>
              <a:p>
                <a:r>
                  <a:rPr lang="es-BO" sz="1200" b="1" dirty="0"/>
                  <a:t>Explicación</a:t>
                </a:r>
              </a:p>
              <a:p>
                <a:r>
                  <a:rPr lang="es-BO" sz="1200" dirty="0"/>
                  <a:t>Transforma la salida en una probabilidad de Stroke.</a:t>
                </a:r>
              </a:p>
              <a:p>
                <a:pPr algn="r">
                  <a:lnSpc>
                    <a:spcPct val="150000"/>
                  </a:lnSpc>
                  <a:tabLst>
                    <a:tab pos="0" algn="l"/>
                  </a:tabLst>
                </a:pPr>
                <a:endParaRPr lang="en-US" sz="1200" b="0" u="none" strike="noStrike" dirty="0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598F6B-633F-E3F7-41D6-47EED73C3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745" y="2571750"/>
                <a:ext cx="3830783" cy="1163764"/>
              </a:xfrm>
              <a:prstGeom prst="rect">
                <a:avLst/>
              </a:prstGeom>
              <a:blipFill>
                <a:blip r:embed="rId3"/>
                <a:stretch>
                  <a:fillRect t="-1047" b="-366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Google Shape;360;p33">
            <a:extLst>
              <a:ext uri="{FF2B5EF4-FFF2-40B4-BE49-F238E27FC236}">
                <a16:creationId xmlns:a16="http://schemas.microsoft.com/office/drawing/2014/main" id="{AAA288AE-350F-7CFC-C5F0-900D66B86E78}"/>
              </a:ext>
            </a:extLst>
          </p:cNvPr>
          <p:cNvCxnSpPr/>
          <p:nvPr/>
        </p:nvCxnSpPr>
        <p:spPr>
          <a:xfrm>
            <a:off x="-360" y="2419794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96530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142E6-D6E8-A49C-CF1E-D672B811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360;p33">
            <a:extLst>
              <a:ext uri="{FF2B5EF4-FFF2-40B4-BE49-F238E27FC236}">
                <a16:creationId xmlns:a16="http://schemas.microsoft.com/office/drawing/2014/main" id="{4C1F6ED2-211E-6971-9834-0405D3217E16}"/>
              </a:ext>
            </a:extLst>
          </p:cNvPr>
          <p:cNvCxnSpPr/>
          <p:nvPr/>
        </p:nvCxnSpPr>
        <p:spPr>
          <a:xfrm>
            <a:off x="0" y="457200"/>
            <a:ext cx="914436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C9157AE-B039-3160-32D2-5DB3030B00F7}"/>
              </a:ext>
            </a:extLst>
          </p:cNvPr>
          <p:cNvSpPr/>
          <p:nvPr/>
        </p:nvSpPr>
        <p:spPr>
          <a:xfrm>
            <a:off x="159328" y="486725"/>
            <a:ext cx="2964872" cy="5421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>
              <a:tabLst>
                <a:tab pos="0" algn="l"/>
              </a:tabLst>
            </a:pPr>
            <a:r>
              <a:rPr lang="es-BO" sz="3200" b="1" dirty="0"/>
              <a:t>ARQUITECTURA</a:t>
            </a:r>
            <a:endParaRPr lang="en-US" sz="3200" b="1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1843DAA-59C2-8B15-D252-1C57A4AD8ED6}"/>
              </a:ext>
            </a:extLst>
          </p:cNvPr>
          <p:cNvSpPr/>
          <p:nvPr/>
        </p:nvSpPr>
        <p:spPr>
          <a:xfrm>
            <a:off x="445117" y="1178099"/>
            <a:ext cx="2751739" cy="17695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/>
            <a:r>
              <a:rPr lang="es-BO" sz="2000" b="1" dirty="0"/>
              <a:t>Entradas</a:t>
            </a:r>
          </a:p>
          <a:p>
            <a:pPr algn="ctr"/>
            <a:r>
              <a:rPr lang="es-BO" sz="2000" b="1" dirty="0"/>
              <a:t>   ↓</a:t>
            </a:r>
          </a:p>
          <a:p>
            <a:pPr algn="ctr"/>
            <a:r>
              <a:rPr lang="es-BO" sz="2000" b="1" dirty="0"/>
              <a:t>Dense(32)</a:t>
            </a:r>
          </a:p>
          <a:p>
            <a:pPr algn="ctr"/>
            <a:r>
              <a:rPr lang="es-BO" sz="2000" b="1" dirty="0"/>
              <a:t>   ↓</a:t>
            </a:r>
          </a:p>
          <a:p>
            <a:pPr algn="ctr"/>
            <a:r>
              <a:rPr lang="es-BO" sz="2000" b="1" dirty="0" err="1"/>
              <a:t>Dropout</a:t>
            </a:r>
            <a:r>
              <a:rPr lang="es-BO" sz="2000" b="1" dirty="0"/>
              <a:t>(0.2)</a:t>
            </a:r>
          </a:p>
          <a:p>
            <a:pPr algn="ctr"/>
            <a:r>
              <a:rPr lang="es-BO" sz="2000" b="1" dirty="0"/>
              <a:t>   ↓</a:t>
            </a:r>
          </a:p>
          <a:p>
            <a:pPr algn="ctr"/>
            <a:r>
              <a:rPr lang="es-BO" sz="2000" b="1" dirty="0"/>
              <a:t>Dense(16)</a:t>
            </a:r>
          </a:p>
          <a:p>
            <a:pPr algn="ctr"/>
            <a:r>
              <a:rPr lang="es-BO" sz="2000" b="1" dirty="0"/>
              <a:t>   ↓</a:t>
            </a:r>
          </a:p>
          <a:p>
            <a:pPr algn="ctr"/>
            <a:r>
              <a:rPr lang="es-BO" sz="2000" b="1" dirty="0"/>
              <a:t>Dense(8)</a:t>
            </a:r>
          </a:p>
          <a:p>
            <a:pPr algn="ctr"/>
            <a:r>
              <a:rPr lang="es-BO" sz="2000" b="1" dirty="0"/>
              <a:t>   ↓</a:t>
            </a:r>
          </a:p>
          <a:p>
            <a:pPr algn="ctr"/>
            <a:r>
              <a:rPr lang="es-BO" sz="2000" b="1" dirty="0" err="1"/>
              <a:t>Sigmoid</a:t>
            </a:r>
            <a:endParaRPr lang="es-BO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48B7E-6728-2D51-6CAF-6222C6A52153}"/>
              </a:ext>
            </a:extLst>
          </p:cNvPr>
          <p:cNvSpPr/>
          <p:nvPr/>
        </p:nvSpPr>
        <p:spPr>
          <a:xfrm>
            <a:off x="4343801" y="1239495"/>
            <a:ext cx="3935418" cy="17695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20000"/>
          </a:bodyPr>
          <a:lstStyle/>
          <a:p>
            <a:r>
              <a:rPr lang="es-BO" sz="2400" b="1" dirty="0" err="1"/>
              <a:t>Hiperparámetros</a:t>
            </a:r>
            <a:endParaRPr lang="es-BO" sz="2400" b="1" dirty="0"/>
          </a:p>
          <a:p>
            <a:endParaRPr lang="es-BO" sz="2400" b="1" dirty="0"/>
          </a:p>
          <a:p>
            <a:r>
              <a:rPr lang="es-BO" sz="2400" dirty="0"/>
              <a:t>Adam </a:t>
            </a:r>
          </a:p>
          <a:p>
            <a:r>
              <a:rPr lang="es-BO" sz="2400" dirty="0" err="1"/>
              <a:t>Binary</a:t>
            </a:r>
            <a:r>
              <a:rPr lang="es-BO" sz="2400" dirty="0"/>
              <a:t> Cross </a:t>
            </a:r>
            <a:r>
              <a:rPr lang="es-BO" sz="2400" dirty="0" err="1"/>
              <a:t>Entropy</a:t>
            </a:r>
            <a:r>
              <a:rPr lang="es-BO" sz="2400" dirty="0"/>
              <a:t> </a:t>
            </a:r>
          </a:p>
          <a:p>
            <a:r>
              <a:rPr lang="es-BO" sz="2400" dirty="0" err="1"/>
              <a:t>Epochs</a:t>
            </a:r>
            <a:r>
              <a:rPr lang="es-BO" sz="2400" dirty="0"/>
              <a:t> = 50 </a:t>
            </a:r>
          </a:p>
          <a:p>
            <a:r>
              <a:rPr lang="es-BO" sz="2400" dirty="0"/>
              <a:t>Batch Size = 32</a:t>
            </a:r>
          </a:p>
          <a:p>
            <a:pPr algn="r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51178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_0:slide_img_aDOjhk.jpg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Rectangle 84"/>
          <p:cNvSpPr/>
          <p:nvPr/>
        </p:nvSpPr>
        <p:spPr>
          <a:xfrm>
            <a:off x="476280" y="476280"/>
            <a:ext cx="2285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476280" y="1428840"/>
            <a:ext cx="361908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 err="1">
                <a:solidFill>
                  <a:srgbClr val="FFFFFF"/>
                </a:solidFill>
                <a:effectLst/>
                <a:uFillTx/>
                <a:latin typeface="Space Grotesk"/>
              </a:rPr>
              <a:t>Resultados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76280" y="3333600"/>
            <a:ext cx="3619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>
              <a:tabLst>
                <a:tab pos="0" algn="l"/>
              </a:tabLst>
            </a:pPr>
            <a:r>
              <a:rPr lang="es-BO" sz="2400" dirty="0"/>
              <a:t>Curva Loss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EFE545-65EC-2710-7896-53291EBA8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37" y="837720"/>
            <a:ext cx="6400271" cy="36572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D654-FB9D-E9E1-FD90-F0D6E584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C03BADCE-ACE7-34B9-2A64-E0F80CEFDFCA}"/>
              </a:ext>
            </a:extLst>
          </p:cNvPr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>
              <a:tabLst>
                <a:tab pos="0" algn="l"/>
              </a:tabLst>
            </a:pPr>
            <a:r>
              <a:rPr lang="es-BO" sz="2400" dirty="0"/>
              <a:t>Curva ROC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1E2EC-5DE2-1620-8451-2129BEC02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027" y="845703"/>
            <a:ext cx="4814228" cy="401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7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3BFC-6779-15A7-FF6C-C3BF64AA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8CC59C05-CB64-AE42-B47B-DFA7FDCC56CE}"/>
              </a:ext>
            </a:extLst>
          </p:cNvPr>
          <p:cNvSpPr/>
          <p:nvPr/>
        </p:nvSpPr>
        <p:spPr>
          <a:xfrm>
            <a:off x="476280" y="476280"/>
            <a:ext cx="8191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>
              <a:tabLst>
                <a:tab pos="0" algn="l"/>
              </a:tabLst>
            </a:pPr>
            <a:r>
              <a:rPr lang="es-BO" sz="2400" dirty="0"/>
              <a:t>Matriz de Confusión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81C1D-F00E-6EB9-DCFA-AFE6B3A92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389" y="950919"/>
            <a:ext cx="4571622" cy="365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06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image_0:slide_img_Inlaik.jpg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Rectangle 97"/>
          <p:cNvSpPr/>
          <p:nvPr/>
        </p:nvSpPr>
        <p:spPr>
          <a:xfrm>
            <a:off x="5048280" y="476280"/>
            <a:ext cx="361908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>
              <a:tabLst>
                <a:tab pos="0" algn="l"/>
              </a:tabLst>
            </a:pPr>
            <a:r>
              <a:rPr lang="es-BO" sz="2400" dirty="0"/>
              <a:t>Conclusiones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4516582" y="837720"/>
            <a:ext cx="4150778" cy="335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EC30F-56FB-90DD-80CB-DD7C78743D2B}"/>
              </a:ext>
            </a:extLst>
          </p:cNvPr>
          <p:cNvSpPr txBox="1"/>
          <p:nvPr/>
        </p:nvSpPr>
        <p:spPr>
          <a:xfrm>
            <a:off x="4696691" y="1204554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altLang="es-B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modelo logró predecir el riesgo de </a:t>
            </a:r>
            <a:r>
              <a:rPr kumimoji="0" lang="es-BO" altLang="es-B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stroke</a:t>
            </a:r>
            <a:r>
              <a:rPr kumimoji="0" lang="es-BO" altLang="es-B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altLang="es-B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preprocesamiento fue fundamental.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altLang="es-B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SMOTE mejoró el desempeño.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altLang="es-B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Edad y glucosa fueron variables importantes.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BO" altLang="es-B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s-BO" altLang="es-B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mostraron resultados competitivos.</a:t>
            </a:r>
            <a:endParaRPr lang="es-BO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ing Code by Slidesgo">
  <a:themeElements>
    <a:clrScheme name="Simple Light">
      <a:dk1>
        <a:srgbClr val="FFFFFF"/>
      </a:dk1>
      <a:lt1>
        <a:srgbClr val="0A0E14"/>
      </a:lt1>
      <a:dk2>
        <a:srgbClr val="FFFFFF"/>
      </a:dk2>
      <a:lt2>
        <a:srgbClr val="00E8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273</Words>
  <Application>Microsoft Office PowerPoint</Application>
  <PresentationFormat>On-screen Show (16:9)</PresentationFormat>
  <Paragraphs>79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IBM Plex Mono SemiBold</vt:lpstr>
      <vt:lpstr>OpenSymbol</vt:lpstr>
      <vt:lpstr>Roboto</vt:lpstr>
      <vt:lpstr>Space Grotesk</vt:lpstr>
      <vt:lpstr>Symbol</vt:lpstr>
      <vt:lpstr>Wingdings</vt:lpstr>
      <vt:lpstr>Mastering Code by Slidesgo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 Michel Salas Justiniano</cp:lastModifiedBy>
  <cp:revision>2</cp:revision>
  <dcterms:modified xsi:type="dcterms:W3CDTF">2026-06-14T00:56:35Z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2026-06-13T23:36:33Z</dcterms:created>
  <dc:creator>Unknown Creator</dc:creator>
  <dc:description/>
  <dc:language>en-US</dc:language>
  <cp:lastModifiedBy>Unknown Creator</cp:lastModifiedBy>
  <dcterms:modified xsi:type="dcterms:W3CDTF">2026-06-13T23:36:33Z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